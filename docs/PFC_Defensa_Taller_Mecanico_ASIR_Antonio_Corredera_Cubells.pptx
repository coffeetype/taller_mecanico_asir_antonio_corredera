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0:00–0:30. Saludo, nombre y título. Una frase: aplicación web LAMP, contenedores, despliegue AWS y observabilidad Prometheus/Grafana. No leer la 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0:30–1:15. Anuncia el guion completo (memoria §7.4). Indica demos en navegador, terminal y Grafana. Reserva margen final para preguntas (rúbrica: exposición oral).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1:15–2:00. Contexto breve: servicio desplegable y observable. Conecta con introducción de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2:00–3:00. Lista corta; no leer palabra por palabra. Subraya integración del ciclo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3:00–4:00. Relaciona cada módulo con lo que enseñarás después. Coherencia con Tabla 1 de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4:00–5:00. Cierra el mapa de competencias antes de arquitectura y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5:00–5:45. Señala flujo de datos y fronteras. Diagrama en memoria Fig.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5:45–12:00. DEMO navegador: login, citación, panel admin. La demo posterior cubre operador técnico. Alineado con Tabla 16 (5–12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Tras la demo (≈12:00–12:30 si encaja) o antes de Docker: entidades clave y flujo usuario→cita. No detallar cada columna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12:00–18:00. DEMO: docker compose ps. Explica por qué no exponer MySQL. Tabla 16 (12–18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18:00–18:30. Puente hacia monitorización. Vocabulario del dominio: Fuente de tráfico, Tráfico simulado (CONTEXT.md).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18:30–20:00. La observabilidad alimenta operación y defensa del diseño. Prepara demo Grafana.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18:00–24:00. DEMO: targets Prometheus, dashboard Grafana en vivo, carga breve JMeter/UI. Comenta tráfico real vs simulado (Tabla 16, 18–24 min). No proyectar credenciales.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24:00–25:30. Riesgos y mitigaciones (§5.2). Pregunta probable del tribunal: ¿por qué MySQL no está expuesto al host?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25:30–26:30. Diagrama Fig. 4. Opcional: consola EC2 en vivo si hay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26:30–27:00. Tres frases por bloque; el detalle queda en la memoria.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27:00–27:30. Una cifra memorable. Orientativo según región y tráfico. Tabla 16 (24–28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27:30–28:00. Honestidad y visión profesional. La slide siguiente resume Tabla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28:00–28:30. Refuerza criterio de resolución de la rúbrica (50 %).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28:30–30:00+. Prioriza margen para preguntas. Preguntas probables: Security Groups y puertos; MySQL no expuesto; diferencia source=app vs source=simulator; por qué logs y no solo métricas in-app.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063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ontserrat"/>
              </a:rPr>
              <a:t>Implantación y monitorización de un sistema web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Montserrat"/>
              </a:rPr>
              <a:t>para la gestión de un taller mecánico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3200400"/>
            <a:ext cx="1005840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3383280"/>
            <a:ext cx="950976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Open Sans"/>
              </a:rPr>
              <a:t>• Proyecto final de ciclo — CFGS Administración de Sistemas Informáticos en Red</a:t>
            </a:r>
          </a:p>
          <a:p>
            <a:pPr algn="ctr"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Open Sans"/>
              </a:rPr>
              <a:t>• Autor: Antonio Corredera Cubells</a:t>
            </a:r>
          </a:p>
          <a:p>
            <a:pPr algn="ctr"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Open Sans"/>
              </a:rPr>
              <a:t>• Curso académico: 2025/2026</a:t>
            </a:r>
          </a:p>
          <a:p>
            <a:pPr algn="ctr"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Open Sans"/>
              </a:rPr>
              <a:t>• Centro docente: IES Camp de Morvedre</a:t>
            </a:r>
          </a:p>
          <a:p>
            <a:pPr algn="ctr"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Open Sans"/>
              </a:rPr>
              <a:t>• Tutor/a individual: Hueso Pastor, Francisco Alfonso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Mapa de la exposición (30 min) — Tabla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83664"/>
            <a:ext cx="10332720" cy="3657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1907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157984"/>
            <a:ext cx="768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E3A5F"/>
                </a:solidFill>
                <a:latin typeface="Open Sans"/>
              </a:rPr>
              <a:t>0–5</a:t>
            </a:r>
          </a:p>
        </p:txBody>
      </p:sp>
      <p:sp>
        <p:nvSpPr>
          <p:cNvPr id="7" name="Oval 6"/>
          <p:cNvSpPr/>
          <p:nvPr/>
        </p:nvSpPr>
        <p:spPr>
          <a:xfrm>
            <a:off x="2798064" y="1719072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6896" y="2157984"/>
            <a:ext cx="768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E3A5F"/>
                </a:solidFill>
                <a:latin typeface="Open Sans"/>
              </a:rPr>
              <a:t>5–12</a:t>
            </a:r>
          </a:p>
        </p:txBody>
      </p:sp>
      <p:sp>
        <p:nvSpPr>
          <p:cNvPr id="9" name="Oval 8"/>
          <p:cNvSpPr/>
          <p:nvPr/>
        </p:nvSpPr>
        <p:spPr>
          <a:xfrm>
            <a:off x="4864608" y="171907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57984"/>
            <a:ext cx="768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E3A5F"/>
                </a:solidFill>
                <a:latin typeface="Open Sans"/>
              </a:rPr>
              <a:t>12–18</a:t>
            </a:r>
          </a:p>
        </p:txBody>
      </p:sp>
      <p:sp>
        <p:nvSpPr>
          <p:cNvPr id="11" name="Oval 10"/>
          <p:cNvSpPr/>
          <p:nvPr/>
        </p:nvSpPr>
        <p:spPr>
          <a:xfrm>
            <a:off x="6931152" y="1719072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9984" y="2157984"/>
            <a:ext cx="768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E3A5F"/>
                </a:solidFill>
                <a:latin typeface="Open Sans"/>
              </a:rPr>
              <a:t>18–24</a:t>
            </a:r>
          </a:p>
        </p:txBody>
      </p:sp>
      <p:sp>
        <p:nvSpPr>
          <p:cNvPr id="13" name="Oval 12"/>
          <p:cNvSpPr/>
          <p:nvPr/>
        </p:nvSpPr>
        <p:spPr>
          <a:xfrm>
            <a:off x="8997696" y="1719072"/>
            <a:ext cx="365760" cy="36576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2157984"/>
            <a:ext cx="768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E3A5F"/>
                </a:solidFill>
                <a:latin typeface="Open Sans"/>
              </a:rPr>
              <a:t>24–28</a:t>
            </a:r>
          </a:p>
        </p:txBody>
      </p:sp>
      <p:sp>
        <p:nvSpPr>
          <p:cNvPr id="15" name="Oval 14"/>
          <p:cNvSpPr/>
          <p:nvPr/>
        </p:nvSpPr>
        <p:spPr>
          <a:xfrm>
            <a:off x="11064240" y="1719072"/>
            <a:ext cx="365760" cy="3657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63072" y="2157984"/>
            <a:ext cx="76809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E3A5F"/>
                </a:solidFill>
                <a:latin typeface="Open Sans"/>
              </a:rPr>
              <a:t>28–30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2395728"/>
          <a:ext cx="11155680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28999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Minutos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Contenido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Evidencia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28999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0–5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Contexto, objetivos y módulos ASIR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Portada, intro, tabla módulos</a:t>
                      </a:r>
                    </a:p>
                  </a:txBody>
                  <a:tcPr/>
                </a:tc>
              </a:tr>
              <a:tr h="28999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5–12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App: login, citas, noticias, administración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Navegador — flujos principales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28999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12–18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Docker, BD, volúmenes y redes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docker compose ps, esquema</a:t>
                      </a:r>
                    </a:p>
                  </a:txBody>
                  <a:tcPr/>
                </a:tc>
              </a:tr>
              <a:tr h="28999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18–24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Prometheus, Grafana y simulador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Dashboards y carga sintética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289995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24–28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AWS, seguridad y presupuesto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Diagrama despliegue y costes</a:t>
                      </a:r>
                    </a:p>
                  </a:txBody>
                  <a:tcPr/>
                </a:tc>
              </a:tr>
              <a:tr h="28999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28–30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Conclusiones, mejoras y preguntas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C3E50"/>
                          </a:solidFill>
                          <a:latin typeface="Open Sans"/>
                        </a:rPr>
                        <a:t>Tabla objetivos y cierre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Problema y alcance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91440" cy="5166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9728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Un taller mecánico necesita ordenar citas, comunicación con clientes y administración interna.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Solución web con perfiles visitante, usuario, administrador y operador técnico.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Foco ASIR: infraestructura reproducible, seguridad, cloud y métricas — no solo CRUD.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Objetivos del PFC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91440" cy="5166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9728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Diseñar e implantar una aplicación web funcional para la gestión básica de un taller mecánico.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Base de datos relacional (usuarios, citas, noticias, consejos) con integridad referencial.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Publicar con Docker para despliegue reproducible en local y en cloud.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Monitorización: salud del sistema, uso de la aplicación, BD y métricas de negocio.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Documentar despliegue en AWS con costes, seguridad perimetral y mantenimiento.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Competencias ASIR (Tabla 1) — parte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520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Módulo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Contenidos aplicados en el PFC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Implantación de Aplicaciones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PHP, Apache, sesiones, formularios, panel admin, API de citas.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Gestión de Bases de Datos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MySQL 8, relaciones, índices, unicidad en citas y usuarios.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Administración de SGBD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Inicialización SQL, usuarios de aplicación, backups, migración futura a RDS.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Servicios de Red e Internet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HTTP, puertos, redes Docker, resolución por servicio, monitorización.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Administración de Sistemas Operativos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Contenedores, volúmenes, logs, healthchecks, scripts de despliegue.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Competencias ASIR (Tabla 1) — parte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5204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Módulo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Contenidos aplicados en el PFC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Seguridad y Alta Disponibilidad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Roles, contraseñas cifradas, CSRF, consultas preparadas, alertas.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Planificación y Administración de Redes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Docker Compose, redes, volúmenes, Security Groups en AWS.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LMSGI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HTML/CSS/JS, Markdown, YAML Compose, JSON de dashboards Grafana.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Empresa e Iniciativa Emprendedora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Digitalización del taller, presupuesto y costes de explotación.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Proyecto de administración de sistemas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Planificación, documentación, despliegue EC2, observabilidad y pruebas.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Montserrat"/>
              </a:rPr>
              <a:t>Arquitectura general (Fig.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54203" y="850392"/>
            <a:ext cx="7653112" cy="3557015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931" y="960120"/>
            <a:ext cx="7433656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17136"/>
            <a:ext cx="11155680" cy="1746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C3E50"/>
                </a:solidFill>
                <a:latin typeface="Open Sans"/>
              </a:rPr>
              <a:t>• Capa web (Apache/PHP) y persistencia MySQL.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C3E50"/>
                </a:solidFill>
                <a:latin typeface="Open Sans"/>
              </a:rPr>
              <a:t>• Stack Prometheus / Grafana / Alertmanager y exportadores.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C3E50"/>
                </a:solidFill>
                <a:latin typeface="Open Sans"/>
              </a:rPr>
              <a:t>• Simulador de carga opcional para evidencia en defensa.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Aplicación web — perfiles y funciones (Tabla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1783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5661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Perfil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Funciones (resumen)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566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Visitante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Inicio, noticias, registro, login, citación como invitado.</a:t>
                      </a:r>
                    </a:p>
                  </a:txBody>
                  <a:tcPr/>
                </a:tc>
              </a:tr>
              <a:tr h="3566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Usuario registrado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Reservas, citas propias, perfil y contraseña.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5661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Administrador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Usuarios, citas, noticias, consejos, estadísticas y monitorización.</a:t>
                      </a:r>
                    </a:p>
                  </a:txBody>
                  <a:tcPr/>
                </a:tc>
              </a:tr>
              <a:tr h="356619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Operador técnico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Despliegue, logs, métricas, healthchecks, simulador y backups.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Montserrat"/>
              </a:rPr>
              <a:t>Modelo de datos y flujo de reserva (Fig. 2 y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2284" y="822959"/>
            <a:ext cx="4259072" cy="346557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012" y="932688"/>
            <a:ext cx="4039615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379976"/>
            <a:ext cx="5257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  <a:latin typeface="Calibri"/>
              </a:rPr>
              <a:t>Fig. 2 — Modelo de datos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52264" y="822959"/>
            <a:ext cx="4880551" cy="346557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992" y="932688"/>
            <a:ext cx="4661095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379976"/>
            <a:ext cx="5257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  <a:latin typeface="Calibri"/>
              </a:rPr>
              <a:t>Fig. 3 — Flujo de cita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Implantación con Docker Compose (Tabla 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4877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Servicio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Función en el stack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Apache/PHP — espera healthcheck de MySQL en el arranque.</a:t>
                      </a:r>
                    </a:p>
                  </a:txBody>
                  <a:tcPr/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mysql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Persistencia — sin publicar puertos al host en producción.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prometheus + alertmanager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Scraping, reglas de alerta y notificaciones.</a:t>
                      </a:r>
                    </a:p>
                  </a:txBody>
                  <a:tcPr/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grafana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Dashboards preprovisionados desde monitoring/grafana/.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exportadores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Node, MySQL, blackbox, cAdvisor, Telegraf.</a:t>
                      </a:r>
                    </a:p>
                  </a:txBody>
                  <a:tcPr/>
                </a:tc>
              </a:tr>
              <a:tr h="3487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simulador (perfil traffic)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JMeter worker + UI para carga controlada.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Originalidad: fuente de tráfico en métricas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91440" cy="5166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9728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Métricas HTTP etiquetadas: source=app (tráfico real) vs source=simulator (JMeter).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Pipeline por logs: un solo camino de observabilidad sin instrumentar cada ruta PHP.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Permite demostrar carga sintética sin confundirla con uso real del taller.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Monitorización y observabilidad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91440" cy="5166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9728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Prometheus: contenedores, MySQL, Node, blackbox y endpoint PHP (métricas de aplicación).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Métricas RED: rate (req/s), errors (ratio) y duration (latencia) por Fuente de tráfico.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Grafana: dashboards preprovisionados (JSON en monitoring/grafana/).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Alertmanager: notificaciones SMTP/SES según configuración.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Montserrat"/>
              </a:rPr>
              <a:t>Evidencias: monitorización y contenedores (Fig. 22 y 20)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1" y="1904427"/>
            <a:ext cx="5477256" cy="1302641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014155"/>
            <a:ext cx="5257800" cy="10831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379976"/>
            <a:ext cx="5257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  <a:latin typeface="Calibri"/>
              </a:rPr>
              <a:t>Grafana — dashboards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2099064"/>
            <a:ext cx="5477256" cy="91336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08792"/>
            <a:ext cx="5257800" cy="6939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4379976"/>
            <a:ext cx="5257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C3E50"/>
                </a:solidFill>
                <a:latin typeface="Calibri"/>
              </a:rPr>
              <a:t>docker ps — contenedores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Seguridad de aplicación e infraestructura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91440" cy="5166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9728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Aplicación: sesiones PHP, validación, roles admin/usuario, CSRF en formularios críticos.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API de citas: rate limiting para reducir spam de reservas (§5.2).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Red: Security Groups; acceso restringido a Prometheus, Grafana, Alertmanager y MySQL.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Simulador: token de control, límites de URLs y TLS si se expone la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Montserrat"/>
              </a:rPr>
              <a:t>Despliegue en AWS (EC2 + Docker Compose)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1" y="1124712"/>
            <a:ext cx="11375136" cy="3008376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234440"/>
            <a:ext cx="11155680" cy="2788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343400"/>
            <a:ext cx="11155680" cy="1920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C3E50"/>
                </a:solidFill>
                <a:latin typeface="Open Sans"/>
              </a:rPr>
              <a:t>• Packer → AMI base con Docker Engine; EC2 con user-data bootstrap idempotente.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C3E50"/>
                </a:solidFill>
                <a:latin typeface="Open Sans"/>
              </a:rPr>
              <a:t>• Reglas de entrada mínimas para HTTP/HTTPS y UIs de laboratorio.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C3E50"/>
                </a:solidFill>
                <a:latin typeface="Open Sans"/>
              </a:rPr>
              <a:t>• Guías y costes documentados en memoria y en docs/ del repositorio.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Validación y pruebas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91440" cy="5166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9728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Funcionales (§7.1): registro, login, citaciones, noticias, consejos y administración.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Despliegue y monitorización (§7.2): arranque Docker, healthchecks, targets y dashboards.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Simulador: carga breve con diferenciación source=app vs source=simulator.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Matriz de pruebas (§7.3): trazabilidad requisito → evidencia.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Presupuesto anual orientativo (Tabla 14)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600200"/>
            <a:ext cx="9601200" cy="1874519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9052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ontserrat"/>
              </a:rPr>
              <a:t>~1.146 EUR/año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880360"/>
            <a:ext cx="9052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Open Sans"/>
              </a:rPr>
              <a:t>Coste total orientativo (infra cloud, dominio, correo)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84048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Conclusiones y mejoras futuras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91440" cy="5166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10972800" cy="5257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Consecución: web operativa, BD normalizada, Docker local/AWS, monitorización activa.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Límites del tiempo de proyecto (HTTPS definitivo, endurecimiento adicional).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2C3E50"/>
                </a:solidFill>
                <a:latin typeface="Open Sans"/>
              </a:rPr>
              <a:t>• Mejoras: RDS, CI/CD, backups en S3, políticas RGPD.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3A5F"/>
                </a:solidFill>
                <a:latin typeface="Montserrat"/>
              </a:rPr>
              <a:t>Grado de consecución de objetivos (Tabla 17)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960120"/>
          <a:ext cx="11155680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4877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Objetivo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Grado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</a:rPr>
                        <a:t>Observaciones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Aplicación web funcional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Registro, login, citas, noticias, consejos y admin.</a:t>
                      </a:r>
                    </a:p>
                  </a:txBody>
                  <a:tcPr/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Modelo de datos relacional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Alto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Tablas normalizadas, FK, índices y datos iniciales.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Despliegue reproducible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Compose local, AWS/Coolify/Dokploy y documentación.</a:t>
                      </a:r>
                    </a:p>
                  </a:txBody>
                  <a:tcPr/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Monitorización integrada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Alto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Prometheus, Grafana, Alertmanager y exportadores.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4877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Simulación de tráfico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Medio-Alto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Worker + UI; requiere Docker y token seguro.</a:t>
                      </a:r>
                    </a:p>
                  </a:txBody>
                  <a:tcPr/>
                </a:tc>
              </a:tr>
              <a:tr h="3487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Preparación para producción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Medio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C3E50"/>
                          </a:solidFill>
                          <a:latin typeface="Open Sans"/>
                        </a:rPr>
                        <a:t>Falta dominio real, TLS definitivo y backups S3 automáticos.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498DB"/>
                </a:solidFill>
                <a:latin typeface="Montserrat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8840" y="34747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E3A5F"/>
                </a:solidFill>
                <a:latin typeface="Montserrat"/>
              </a:rPr>
              <a:t>Demostración, preguntas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E74C3C"/>
                </a:solidFill>
                <a:latin typeface="Montserrat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429000"/>
            <a:ext cx="92354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Open Sans"/>
              </a:rPr>
              <a:t>• Checklist demo (operador técnico): app → docker compose ps → Grafana/Prometheus → carga breve.</a:t>
            </a:r>
          </a:p>
          <a:p>
            <a:pPr algn="ctr">
              <a:spcAft>
                <a:spcPts val="700"/>
              </a:spcAft>
            </a:pPr>
            <a:r>
              <a:rPr sz="1600" b="0">
                <a:solidFill>
                  <a:srgbClr val="2C3E50"/>
                </a:solidFill>
                <a:latin typeface="Open Sans"/>
              </a:rPr>
              <a:t>• Reserva ≥5 min para preguntas del tribunal (rúbrica: exposición oral 30 %).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2C3E50"/>
                </a:solidFill>
                <a:latin typeface="Calibri"/>
              </a:rPr>
              <a:t>Defensa PFC — Taller mecánico ASIR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PFC — Taller mecánico (ASIR)</dc:title>
  <dc:subject/>
  <dc:creator>Antonio Corredera Cubells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